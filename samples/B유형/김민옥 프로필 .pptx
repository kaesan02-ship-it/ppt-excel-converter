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49" autoAdjust="0"/>
    <p:restoredTop sz="98518" autoAdjust="0"/>
  </p:normalViewPr>
  <p:slideViewPr>
    <p:cSldViewPr showGuides="1">
      <p:cViewPr varScale="1">
        <p:scale>
          <a:sx n="106" d="100"/>
          <a:sy n="106" d="100"/>
        </p:scale>
        <p:origin x="174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A49A3-625F-4710-8C82-646B2011CDCB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3537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936F5-A0A7-4D26-A302-34F0EF4AE5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13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8936F5-A0A7-4D26-A302-34F0EF4AE59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2025-11-23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998919145"/>
              </p:ext>
            </p:extLst>
          </p:nvPr>
        </p:nvGraphicFramePr>
        <p:xfrm>
          <a:off x="72488" y="238800"/>
          <a:ext cx="9036016" cy="1534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4077">
                <a:tc gridSpan="5">
                  <a:txBody>
                    <a:bodyPr/>
                    <a:lstStyle/>
                    <a:p>
                      <a:pPr marL="0" indent="0" latinLnBrk="1">
                        <a:buFont typeface="Wingdings" pitchFamily="2" charset="2"/>
                        <a:buNone/>
                      </a:pPr>
                      <a:r>
                        <a:rPr lang="ko-KR" altLang="en-US" sz="1200" dirty="0"/>
                        <a:t>▶기본 인적 사항</a:t>
                      </a:r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85">
                <a:tc rowSpan="4">
                  <a:txBody>
                    <a:bodyPr/>
                    <a:lstStyle/>
                    <a:p>
                      <a:pPr marL="0" marR="0" indent="0" algn="l" defTabSz="9842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" kern="1200" dirty="0">
                        <a:effectLst/>
                      </a:endParaRPr>
                    </a:p>
                    <a:p>
                      <a:pPr latinLnBrk="1">
                        <a:tabLst/>
                      </a:pPr>
                      <a:endParaRPr lang="ko-KR" altLang="en-US" dirty="0"/>
                    </a:p>
                  </a:txBody>
                  <a:tcPr marL="0" marR="0" marT="0" marB="0" anchor="ctr">
                    <a:blipFill dpi="0" rotWithShape="0">
                      <a:blip r:embed="rId3"/>
                      <a:srcRect/>
                      <a:stretch>
                        <a:fillRect l="-8000" t="-2000" r="-6000" b="-16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indent="0" algn="ctr" latinLnBrk="1"/>
                      <a:r>
                        <a:rPr lang="ko-KR" altLang="en-US" sz="1200" b="1" dirty="0"/>
                        <a:t>이름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김 민 옥</a:t>
                      </a:r>
                      <a:endParaRPr lang="ko-KR" altLang="en-US" sz="12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생년월일</a:t>
                      </a:r>
                      <a:endParaRPr lang="ko-KR" altLang="en-US" sz="1200" b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      1971.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12.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05</a:t>
                      </a:r>
                      <a:endParaRPr lang="ko-KR" altLang="en-US" sz="12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소속 및 연락처</a:t>
                      </a: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/>
                        <a:t> </a:t>
                      </a:r>
                      <a:r>
                        <a:rPr lang="ko-KR" altLang="en-US" sz="1200" baseline="0" dirty="0" err="1"/>
                        <a:t>블라썸</a:t>
                      </a:r>
                      <a:r>
                        <a:rPr lang="ko-KR" altLang="en-US" sz="1200" baseline="0" dirty="0"/>
                        <a:t> 컨설팅 </a:t>
                      </a:r>
                      <a:r>
                        <a:rPr lang="en-US" altLang="ko-KR" sz="1200" baseline="0" dirty="0"/>
                        <a:t>/ </a:t>
                      </a:r>
                      <a:r>
                        <a:rPr lang="ko-KR" altLang="en-US" sz="1200" baseline="0" dirty="0"/>
                        <a:t>대표     </a:t>
                      </a:r>
                      <a:r>
                        <a:rPr lang="ko-KR" altLang="en-US" sz="1200" dirty="0"/>
                        <a:t>연락처 </a:t>
                      </a:r>
                      <a:r>
                        <a:rPr lang="en-US" altLang="ko-KR" sz="1200" dirty="0"/>
                        <a:t>: </a:t>
                      </a:r>
                      <a:r>
                        <a:rPr lang="en-US" altLang="ko-KR" sz="1200" b="1" dirty="0"/>
                        <a:t>010-3224</a:t>
                      </a:r>
                      <a:r>
                        <a:rPr lang="en-US" altLang="ko-KR" sz="1200" b="1" baseline="0" dirty="0"/>
                        <a:t>-9870</a:t>
                      </a:r>
                      <a:r>
                        <a:rPr lang="en-US" altLang="ko-KR" sz="1200" b="0" baseline="0" dirty="0"/>
                        <a:t>   </a:t>
                      </a:r>
                      <a:r>
                        <a:rPr lang="ko-KR" altLang="en-US" sz="1200" baseline="0" dirty="0"/>
                        <a:t>이메일 </a:t>
                      </a:r>
                      <a:r>
                        <a:rPr lang="en-US" altLang="ko-KR" sz="1200" baseline="0" dirty="0"/>
                        <a:t>:</a:t>
                      </a:r>
                      <a:r>
                        <a:rPr lang="ko-KR" altLang="en-US" sz="1200" baseline="0" dirty="0"/>
                        <a:t> </a:t>
                      </a:r>
                      <a:r>
                        <a:rPr lang="en-US" altLang="ko-KR" sz="1200" b="1" baseline="0" dirty="0"/>
                        <a:t>momo973548@naver.com</a:t>
                      </a:r>
                      <a:endParaRPr lang="ko-KR" altLang="en-US" sz="1200" b="1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전문 분야</a:t>
                      </a: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200" spc="-80" baseline="0" dirty="0"/>
                        <a:t>심리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인사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기획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경영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마케팅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홍보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교육</a:t>
                      </a:r>
                      <a:r>
                        <a:rPr lang="en-US" altLang="ko-KR" sz="1200" spc="-80" baseline="0" dirty="0"/>
                        <a:t>, </a:t>
                      </a:r>
                      <a:r>
                        <a:rPr lang="ko-KR" altLang="en-US" sz="1200" spc="-80" baseline="0" dirty="0"/>
                        <a:t>역량평가 등</a:t>
                      </a:r>
                    </a:p>
                  </a:txBody>
                  <a:tcPr marL="72000" marR="72000" marT="0" marB="0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학력</a:t>
                      </a:r>
                      <a:endParaRPr lang="en-US" altLang="ko-KR" sz="1200" b="1" dirty="0"/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200" b="1" spc="-80" baseline="0" dirty="0"/>
                        <a:t>[</a:t>
                      </a:r>
                      <a:r>
                        <a:rPr lang="ko-KR" altLang="en-US" sz="1200" b="1" spc="-80" baseline="0" dirty="0"/>
                        <a:t>석사</a:t>
                      </a:r>
                      <a:r>
                        <a:rPr lang="en-US" altLang="ko-KR" sz="1200" b="1" spc="-80" baseline="0" dirty="0"/>
                        <a:t>] </a:t>
                      </a:r>
                      <a:r>
                        <a:rPr lang="ko-KR" altLang="en-US" sz="1200" spc="-80" baseline="0" dirty="0"/>
                        <a:t>단국대학교 교육학과 상담심리학    </a:t>
                      </a:r>
                      <a:r>
                        <a:rPr lang="en-US" altLang="ko-KR" sz="1200" b="1" spc="-80" baseline="0" dirty="0"/>
                        <a:t>[</a:t>
                      </a:r>
                      <a:r>
                        <a:rPr lang="ko-KR" altLang="en-US" sz="1200" b="1" spc="-80" baseline="0" dirty="0"/>
                        <a:t>학사</a:t>
                      </a:r>
                      <a:r>
                        <a:rPr lang="en-US" altLang="ko-KR" sz="1200" b="1" spc="-80" baseline="0" dirty="0"/>
                        <a:t>] </a:t>
                      </a:r>
                      <a:r>
                        <a:rPr lang="ko-KR" altLang="en-US" sz="1200" spc="-80" baseline="0" dirty="0"/>
                        <a:t>서울과학기술대학교 조형대학</a:t>
                      </a:r>
                      <a:endParaRPr lang="en-US" altLang="ko-KR" sz="1200" spc="-80" baseline="0" dirty="0"/>
                    </a:p>
                  </a:txBody>
                  <a:tcPr marL="72000" marR="7200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129602"/>
              </p:ext>
            </p:extLst>
          </p:nvPr>
        </p:nvGraphicFramePr>
        <p:xfrm>
          <a:off x="72008" y="1772816"/>
          <a:ext cx="9036495" cy="5135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3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96">
                  <a:extLst>
                    <a:ext uri="{9D8B030D-6E8A-4147-A177-3AD203B41FA5}">
                      <a16:colId xmlns:a16="http://schemas.microsoft.com/office/drawing/2014/main" val="4018577099"/>
                    </a:ext>
                  </a:extLst>
                </a:gridCol>
                <a:gridCol w="4047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982">
                <a:tc gridSpan="4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▶경력사항 및 수행실적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08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주요이력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수행실적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indent="0" algn="ctr" latinLnBrk="1">
                        <a:lnSpc>
                          <a:spcPts val="1500"/>
                        </a:lnSpc>
                      </a:pPr>
                      <a:endParaRPr lang="ko-KR" altLang="en-US" sz="1100" b="1" spc="-80" baseline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spc="-130" baseline="0" dirty="0"/>
                        <a:t>現</a:t>
                      </a:r>
                      <a:r>
                        <a:rPr lang="en-US" altLang="ko-KR" sz="1000" b="0" i="0" spc="-130" baseline="0" dirty="0"/>
                        <a:t>) </a:t>
                      </a:r>
                      <a:r>
                        <a:rPr lang="ko-KR" altLang="en-US" sz="1000" b="0" i="0" spc="-130" baseline="0" dirty="0" err="1"/>
                        <a:t>블라썸</a:t>
                      </a:r>
                      <a:r>
                        <a:rPr lang="ko-KR" altLang="en-US" sz="1000" b="0" i="0" spc="-130" baseline="0" dirty="0"/>
                        <a:t> 컨설팅 </a:t>
                      </a:r>
                      <a:r>
                        <a:rPr lang="en-US" altLang="ko-KR" sz="1000" b="0" i="0" spc="-130" baseline="0" dirty="0"/>
                        <a:t>/ </a:t>
                      </a:r>
                      <a:r>
                        <a:rPr lang="ko-KR" altLang="en-US" sz="1000" b="0" i="0" spc="-130" baseline="0" dirty="0"/>
                        <a:t>대표</a:t>
                      </a:r>
                      <a:r>
                        <a:rPr lang="en-US" altLang="ko-KR" sz="1000" b="0" i="0" spc="-130" baseline="0" dirty="0"/>
                        <a:t>_</a:t>
                      </a:r>
                      <a:r>
                        <a:rPr lang="ko-KR" altLang="en-US" sz="1000" b="0" i="0" spc="-130" baseline="0" dirty="0"/>
                        <a:t>인사</a:t>
                      </a:r>
                      <a:r>
                        <a:rPr lang="en-US" altLang="ko-KR" sz="1000" b="0" i="0" spc="-130" baseline="0" dirty="0"/>
                        <a:t>, </a:t>
                      </a:r>
                      <a:r>
                        <a:rPr lang="ko-KR" altLang="en-US" sz="1000" b="0" i="0" spc="-130" baseline="0" dirty="0"/>
                        <a:t>경영</a:t>
                      </a:r>
                      <a:r>
                        <a:rPr lang="en-US" altLang="ko-KR" sz="1000" b="0" i="0" spc="-130" baseline="0" dirty="0"/>
                        <a:t>, </a:t>
                      </a:r>
                      <a:r>
                        <a:rPr lang="ko-KR" altLang="en-US" sz="1000" b="0" i="0" spc="-130" baseline="0" dirty="0"/>
                        <a:t>교육</a:t>
                      </a:r>
                      <a:r>
                        <a:rPr lang="en-US" altLang="ko-KR" sz="1000" b="0" i="0" spc="-130" baseline="0" dirty="0"/>
                        <a:t>, </a:t>
                      </a:r>
                      <a:r>
                        <a:rPr lang="ko-KR" altLang="en-US" sz="1000" b="0" i="0" spc="-130" baseline="0" dirty="0"/>
                        <a:t>공정채용 컨설턴트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(2015. 01~</a:t>
                      </a:r>
                      <a:r>
                        <a:rPr lang="ko-KR" altLang="en-US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현재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spc="-100" baseline="0" dirty="0"/>
                        <a:t> </a:t>
                      </a:r>
                      <a:endParaRPr lang="en-US" altLang="ko-KR" sz="1000" b="0" i="0" spc="-100" baseline="0" dirty="0"/>
                    </a:p>
                    <a:p>
                      <a:pPr marL="0" lvl="0" indent="0" algn="l" latinLnBrk="1">
                        <a:lnSpc>
                          <a:spcPts val="1200"/>
                        </a:lnSpc>
                        <a:buFont typeface="Wingdings" pitchFamily="2" charset="2"/>
                        <a:buNone/>
                      </a:pPr>
                      <a:r>
                        <a:rPr lang="en-US" altLang="ko-KR" sz="1000" b="0" i="0" spc="-150" baseline="0" dirty="0"/>
                        <a:t>      </a:t>
                      </a:r>
                      <a:r>
                        <a:rPr lang="ko-KR" altLang="en-US" sz="1000" b="0" i="0" spc="-150" baseline="0" dirty="0"/>
                        <a:t>공기업 </a:t>
                      </a:r>
                      <a:r>
                        <a:rPr lang="en-US" altLang="ko-KR" sz="1000" b="0" i="0" spc="-150" baseline="0" dirty="0">
                          <a:latin typeface="+mn-lt"/>
                          <a:ea typeface="+mn-ea"/>
                        </a:rPr>
                        <a:t>〮 </a:t>
                      </a:r>
                      <a:r>
                        <a:rPr lang="ko-KR" altLang="en-US" sz="1000" b="0" i="0" spc="-150" baseline="0" dirty="0"/>
                        <a:t>공공기관 </a:t>
                      </a:r>
                      <a:r>
                        <a:rPr lang="en-US" altLang="ko-KR" sz="1000" b="0" i="0" spc="-150" baseline="0" dirty="0">
                          <a:latin typeface="+mn-lt"/>
                          <a:ea typeface="+mn-ea"/>
                        </a:rPr>
                        <a:t>〮 </a:t>
                      </a:r>
                      <a:r>
                        <a:rPr lang="ko-KR" altLang="en-US" sz="1000" b="0" i="0" spc="-150" baseline="0" dirty="0"/>
                        <a:t>공무원 채용심사</a:t>
                      </a:r>
                      <a:r>
                        <a:rPr lang="en-US" altLang="ko-KR" sz="1000" b="0" i="0" spc="-150" baseline="0" dirty="0"/>
                        <a:t>, </a:t>
                      </a:r>
                      <a:r>
                        <a:rPr lang="ko-KR" altLang="en-US" sz="1000" b="0" i="0" spc="-150" baseline="0" dirty="0"/>
                        <a:t> </a:t>
                      </a:r>
                      <a:r>
                        <a:rPr lang="en-US" altLang="ko-KR" sz="1000" b="0" i="0" spc="-150" baseline="0" dirty="0"/>
                        <a:t>NCS </a:t>
                      </a:r>
                      <a:r>
                        <a:rPr lang="ko-KR" altLang="en-US" sz="1000" b="0" i="0" spc="-150" baseline="0" dirty="0"/>
                        <a:t>문제개발</a:t>
                      </a:r>
                      <a:r>
                        <a:rPr lang="en-US" altLang="ko-KR" sz="1000" b="0" i="0" spc="-150" baseline="0" dirty="0"/>
                        <a:t>, </a:t>
                      </a:r>
                      <a:r>
                        <a:rPr lang="ko-KR" altLang="en-US" sz="1000" b="0" i="0" spc="-150" baseline="0" dirty="0"/>
                        <a:t>채용 도구 과제 개발 </a:t>
                      </a:r>
                      <a:endParaRPr lang="en-US" altLang="ko-KR" sz="1000" b="0" i="0" spc="-150" baseline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spc="-130" dirty="0">
                          <a:effectLst/>
                        </a:rPr>
                        <a:t>_ 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AI – BEI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데이터 </a:t>
                      </a:r>
                      <a:r>
                        <a:rPr lang="ko-KR" altLang="en-US" sz="1000" b="0" kern="1200" spc="-130" baseline="0" dirty="0" err="1">
                          <a:effectLst/>
                        </a:rPr>
                        <a:t>라벨링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 평가위원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(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한국능률협회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)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 </a:t>
                      </a:r>
                      <a:endParaRPr lang="en-US" altLang="ko-KR" sz="1000" b="0" kern="1200" spc="-130" baseline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spc="-13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_ </a:t>
                      </a:r>
                      <a:r>
                        <a:rPr lang="ko-KR" altLang="en-US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서울시교육청</a:t>
                      </a:r>
                      <a:r>
                        <a:rPr lang="en-US" altLang="ko-KR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세종시교육청</a:t>
                      </a:r>
                      <a:r>
                        <a:rPr lang="en-US" altLang="ko-KR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충북교육청</a:t>
                      </a:r>
                      <a:r>
                        <a:rPr lang="en-US" altLang="ko-KR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전남교육청</a:t>
                      </a:r>
                      <a:r>
                        <a:rPr lang="en-US" altLang="ko-KR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서울교통공사  등  승진 심사</a:t>
                      </a:r>
                      <a:endParaRPr lang="en-US" altLang="ko-KR" sz="1000" b="0" kern="1200" spc="-20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_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서울시 주관 뉴딜일자리 창업 교육과정 콘텐츠 개발 및 강의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  </a:t>
                      </a:r>
                      <a:endParaRPr lang="en-US" altLang="ko-KR" sz="1000" b="0" i="0" kern="1200" spc="-130" baseline="0" dirty="0">
                        <a:effectLst/>
                      </a:endParaRPr>
                    </a:p>
                  </a:txBody>
                  <a:tcPr marL="9000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kern="1200" spc="-130" baseline="0" dirty="0">
                          <a:effectLst/>
                        </a:rPr>
                        <a:t>      _ </a:t>
                      </a:r>
                      <a:r>
                        <a:rPr lang="ko-KR" altLang="en-US" sz="1000" b="0" i="0" kern="1200" spc="-130" baseline="0" dirty="0" err="1">
                          <a:effectLst/>
                        </a:rPr>
                        <a:t>한국</a:t>
                      </a:r>
                      <a:r>
                        <a:rPr lang="ko-KR" altLang="en-US" sz="1000" b="0" kern="1100" spc="-130" dirty="0" err="1">
                          <a:effectLst/>
                        </a:rPr>
                        <a:t>폴리텍</a:t>
                      </a:r>
                      <a:r>
                        <a:rPr lang="ko-KR" altLang="en-US" sz="1000" b="0" kern="1100" spc="-130" dirty="0">
                          <a:effectLst/>
                        </a:rPr>
                        <a:t> 대학 </a:t>
                      </a:r>
                      <a:r>
                        <a:rPr lang="en-US" altLang="ko-KR" sz="1000" b="0" kern="1100" spc="-130" dirty="0">
                          <a:effectLst/>
                        </a:rPr>
                        <a:t>NCS</a:t>
                      </a:r>
                      <a:r>
                        <a:rPr lang="ko-KR" altLang="en-US" sz="1000" b="0" kern="1100" spc="-130" dirty="0">
                          <a:effectLst/>
                        </a:rPr>
                        <a:t>기반 인성교육 </a:t>
                      </a:r>
                      <a:r>
                        <a:rPr lang="en-US" altLang="ko-KR" sz="1000" b="0" kern="1100" spc="-130" dirty="0">
                          <a:effectLst/>
                        </a:rPr>
                        <a:t>– </a:t>
                      </a:r>
                      <a:r>
                        <a:rPr lang="ko-KR" altLang="en-US" sz="1000" b="0" kern="1100" spc="-130" dirty="0">
                          <a:effectLst/>
                        </a:rPr>
                        <a:t>강의</a:t>
                      </a:r>
                      <a:endParaRPr lang="en-US" altLang="ko-KR" sz="1000" b="0" kern="1100" spc="-13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100" spc="-130" dirty="0">
                          <a:effectLst/>
                        </a:rPr>
                        <a:t>      _ </a:t>
                      </a:r>
                      <a:r>
                        <a:rPr lang="ko-KR" altLang="en-US" sz="1000" b="0" kern="1100" spc="-130" dirty="0" err="1">
                          <a:effectLst/>
                        </a:rPr>
                        <a:t>코이카</a:t>
                      </a:r>
                      <a:r>
                        <a:rPr lang="ko-KR" altLang="en-US" sz="1000" b="0" kern="1100" spc="-130" dirty="0">
                          <a:effectLst/>
                        </a:rPr>
                        <a:t> </a:t>
                      </a:r>
                      <a:r>
                        <a:rPr lang="en-US" altLang="ko-KR" sz="1000" b="0" kern="1100" spc="-130" dirty="0">
                          <a:effectLst/>
                        </a:rPr>
                        <a:t>- </a:t>
                      </a:r>
                      <a:r>
                        <a:rPr lang="ko-KR" altLang="en-US" sz="1000" b="0" kern="1100" spc="-130" dirty="0">
                          <a:effectLst/>
                        </a:rPr>
                        <a:t>해외 봉사단</a:t>
                      </a:r>
                      <a:r>
                        <a:rPr lang="en-US" altLang="ko-KR" sz="1000" b="0" kern="1100" spc="-130" dirty="0">
                          <a:effectLst/>
                        </a:rPr>
                        <a:t>, </a:t>
                      </a:r>
                      <a:r>
                        <a:rPr lang="ko-KR" altLang="en-US" sz="1000" b="0" kern="1100" spc="-130" dirty="0" err="1">
                          <a:effectLst/>
                        </a:rPr>
                        <a:t>자문단</a:t>
                      </a:r>
                      <a:r>
                        <a:rPr lang="en-US" altLang="ko-KR" sz="1000" b="0" kern="1100" spc="-130" dirty="0">
                          <a:effectLst/>
                        </a:rPr>
                        <a:t>, </a:t>
                      </a:r>
                      <a:r>
                        <a:rPr lang="ko-KR" altLang="en-US" sz="1000" b="0" kern="1100" spc="-130" dirty="0">
                          <a:effectLst/>
                        </a:rPr>
                        <a:t>코디네이터 등 선발 전문위원</a:t>
                      </a:r>
                      <a:endParaRPr lang="en-US" altLang="ko-KR" sz="1000" b="0" kern="1200" spc="-13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前</a:t>
                      </a:r>
                      <a:r>
                        <a:rPr lang="en-US" altLang="ko-KR" sz="1000" b="0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)</a:t>
                      </a:r>
                      <a:r>
                        <a:rPr lang="ko-KR" altLang="en-US" sz="1000" b="0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 </a:t>
                      </a:r>
                      <a:r>
                        <a:rPr lang="ko-KR" altLang="en-US" sz="1000" b="0" spc="-130" dirty="0" err="1">
                          <a:latin typeface="+mn-ea"/>
                          <a:ea typeface="+mn-ea"/>
                        </a:rPr>
                        <a:t>앨앤아이컨설팅</a:t>
                      </a:r>
                      <a:r>
                        <a:rPr lang="ko-KR" altLang="en-US" sz="1000" b="0" spc="-130" dirty="0">
                          <a:latin typeface="+mn-ea"/>
                          <a:ea typeface="+mn-ea"/>
                        </a:rPr>
                        <a:t>㈜  </a:t>
                      </a:r>
                      <a:r>
                        <a:rPr lang="en-US" altLang="ko-KR" sz="1000" b="0" spc="-130" dirty="0">
                          <a:latin typeface="+mn-ea"/>
                          <a:ea typeface="+mn-ea"/>
                        </a:rPr>
                        <a:t>HR</a:t>
                      </a:r>
                      <a:r>
                        <a:rPr lang="ko-KR" altLang="en-US" sz="1000" b="0" spc="-130" dirty="0">
                          <a:latin typeface="+mn-ea"/>
                          <a:ea typeface="+mn-ea"/>
                        </a:rPr>
                        <a:t>컨설팅 </a:t>
                      </a:r>
                      <a:r>
                        <a:rPr lang="en-US" altLang="ko-KR" sz="1000" b="0" spc="-13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b="0" spc="-130" dirty="0">
                          <a:latin typeface="+mn-ea"/>
                          <a:ea typeface="+mn-ea"/>
                        </a:rPr>
                        <a:t>전문위원</a:t>
                      </a:r>
                      <a:r>
                        <a:rPr lang="en-US" altLang="ko-KR" sz="1000" b="0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0" spc="-130" baseline="0" dirty="0">
                          <a:latin typeface="+mn-ea"/>
                          <a:ea typeface="+mn-ea"/>
                        </a:rPr>
                        <a:t>인사</a:t>
                      </a:r>
                      <a:r>
                        <a:rPr lang="en-US" altLang="ko-KR" sz="1000" b="0" spc="-130" baseline="0" dirty="0">
                          <a:latin typeface="+mn-ea"/>
                          <a:ea typeface="+mn-ea"/>
                        </a:rPr>
                        <a:t> , </a:t>
                      </a:r>
                      <a:r>
                        <a:rPr lang="ko-KR" altLang="en-US" sz="1000" b="0" spc="-130" baseline="0" dirty="0"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0" spc="-13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pc="-130" baseline="0" dirty="0">
                          <a:latin typeface="+mn-ea"/>
                          <a:ea typeface="+mn-ea"/>
                        </a:rPr>
                        <a:t>홍보 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</a:rPr>
                        <a:t>(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08. 05~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14. 12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0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000" b="0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㈜</a:t>
                      </a:r>
                      <a:r>
                        <a:rPr lang="ko-KR" altLang="en-US" sz="1000" b="0" i="0" spc="-130" baseline="0" dirty="0" err="1"/>
                        <a:t>유니콘기획</a:t>
                      </a:r>
                      <a:r>
                        <a:rPr lang="ko-KR" altLang="en-US" sz="1000" b="0" i="0" spc="-130" baseline="0" dirty="0"/>
                        <a:t>  인사팀 </a:t>
                      </a:r>
                      <a:r>
                        <a:rPr lang="en-US" altLang="ko-KR" sz="1000" b="0" i="0" spc="-130" baseline="0" dirty="0"/>
                        <a:t>/ </a:t>
                      </a:r>
                      <a:r>
                        <a:rPr lang="ko-KR" altLang="en-US" sz="1000" b="0" i="0" spc="-130" baseline="0" dirty="0"/>
                        <a:t>팀</a:t>
                      </a:r>
                      <a:r>
                        <a:rPr lang="ko-KR" altLang="en-US" sz="1000" b="0" spc="-130" baseline="0" dirty="0"/>
                        <a:t>장</a:t>
                      </a:r>
                      <a:r>
                        <a:rPr lang="en-US" altLang="ko-KR" sz="1000" b="0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0" spc="-130" baseline="0" dirty="0"/>
                        <a:t>인사 </a:t>
                      </a:r>
                      <a:r>
                        <a:rPr lang="en-US" altLang="ko-KR" sz="1000" b="0" spc="-130" baseline="0" dirty="0"/>
                        <a:t>, </a:t>
                      </a:r>
                      <a:r>
                        <a:rPr lang="ko-KR" altLang="en-US" sz="1000" b="0" spc="-130" baseline="0" dirty="0"/>
                        <a:t>경영지원</a:t>
                      </a:r>
                      <a:r>
                        <a:rPr lang="en-US" altLang="ko-KR" sz="1000" b="0" spc="-130" baseline="0" dirty="0"/>
                        <a:t>, </a:t>
                      </a:r>
                      <a:r>
                        <a:rPr lang="ko-KR" altLang="en-US" sz="1000" b="0" spc="-130" baseline="0" dirty="0"/>
                        <a:t>사업기획 </a:t>
                      </a:r>
                      <a:r>
                        <a:rPr lang="en-US" altLang="ko-KR" sz="1000" b="0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(2001. 01~2007. 12)</a:t>
                      </a:r>
                      <a:r>
                        <a:rPr lang="ko-KR" altLang="en-US" sz="1000" b="0" spc="-100" baseline="0" dirty="0"/>
                        <a:t> 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0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b="0" i="0" spc="-130" dirty="0"/>
                        <a:t>㈜</a:t>
                      </a:r>
                      <a:r>
                        <a:rPr lang="ko-KR" altLang="en-US" sz="1000" b="0" i="0" spc="-130" dirty="0" err="1"/>
                        <a:t>지학사</a:t>
                      </a:r>
                      <a:r>
                        <a:rPr lang="ko-KR" altLang="en-US" sz="1000" b="0" i="0" spc="-130" dirty="0"/>
                        <a:t>  편집</a:t>
                      </a:r>
                      <a:r>
                        <a:rPr lang="en-US" altLang="ko-KR" sz="1000" b="0" i="0" spc="-130" dirty="0"/>
                        <a:t>1</a:t>
                      </a:r>
                      <a:r>
                        <a:rPr lang="ko-KR" altLang="en-US" sz="1000" b="0" i="0" spc="-130" dirty="0"/>
                        <a:t>부 </a:t>
                      </a:r>
                      <a:r>
                        <a:rPr lang="en-US" altLang="ko-KR" sz="1000" b="0" i="0" spc="-130" dirty="0"/>
                        <a:t>/ </a:t>
                      </a:r>
                      <a:r>
                        <a:rPr lang="ko-KR" altLang="en-US" sz="1000" b="0" i="0" spc="-130" dirty="0"/>
                        <a:t>국정교과서 및 학습서 </a:t>
                      </a:r>
                      <a:r>
                        <a:rPr lang="ko-KR" altLang="en-US" sz="1000" b="0" i="0" kern="1200" spc="-130" dirty="0">
                          <a:effectLst/>
                        </a:rPr>
                        <a:t>교육과정</a:t>
                      </a:r>
                      <a:r>
                        <a:rPr lang="ko-KR" altLang="en-US" sz="1000" b="0" i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i="0" kern="1200" spc="-130" dirty="0">
                          <a:effectLst/>
                        </a:rPr>
                        <a:t>기획개발 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(1995. 03~2000. 12)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i="0" kern="1200" spc="-130" baseline="0" dirty="0">
                        <a:effectLst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en-US" altLang="ko-KR" sz="1000" b="1" kern="1200" spc="-13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spc="-13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1000" b="1" i="0" u="none" strike="noStrike" kern="1200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_ </a:t>
                      </a:r>
                      <a:r>
                        <a:rPr lang="ko-KR" altLang="en-US" sz="1000" b="1" kern="1200" spc="-130" dirty="0">
                          <a:effectLst/>
                        </a:rPr>
                        <a:t>서울시 주관 뉴딜일자리 창업 교육과정 콘텐츠 개발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kern="1200" spc="-130" baseline="0" dirty="0">
                          <a:effectLst/>
                        </a:rPr>
                        <a:t>     </a:t>
                      </a:r>
                      <a:r>
                        <a:rPr lang="en-US" altLang="ko-KR" sz="1000" b="1" kern="1100" spc="-130" baseline="0" dirty="0">
                          <a:effectLst/>
                        </a:rPr>
                        <a:t>_ </a:t>
                      </a:r>
                      <a:r>
                        <a:rPr lang="ko-KR" altLang="en-US" sz="1000" b="1" kern="1100" spc="-130" dirty="0">
                          <a:effectLst/>
                        </a:rPr>
                        <a:t>경기도청</a:t>
                      </a:r>
                      <a:r>
                        <a:rPr lang="en-US" altLang="ko-KR" sz="1000" b="1" kern="11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kern="1100" spc="-130" baseline="0" dirty="0">
                          <a:effectLst/>
                        </a:rPr>
                        <a:t>퇴직자 비즈니스 상담 심리 코칭  </a:t>
                      </a:r>
                      <a:r>
                        <a:rPr lang="en-US" altLang="ko-KR" sz="1000" b="1" i="0" kern="1200" spc="-130" baseline="0" dirty="0">
                          <a:effectLst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kern="1200" spc="-130" baseline="0" dirty="0">
                          <a:effectLst/>
                        </a:rPr>
                        <a:t>_ </a:t>
                      </a:r>
                      <a:r>
                        <a:rPr lang="ko-KR" altLang="en-US" sz="1000" b="1" kern="1100" spc="-130" dirty="0" err="1">
                          <a:effectLst/>
                        </a:rPr>
                        <a:t>폴리텍</a:t>
                      </a:r>
                      <a:r>
                        <a:rPr lang="ko-KR" altLang="en-US" sz="1000" b="1" kern="1100" spc="-130" dirty="0">
                          <a:effectLst/>
                        </a:rPr>
                        <a:t> 대학 </a:t>
                      </a:r>
                      <a:r>
                        <a:rPr lang="en-US" altLang="ko-KR" sz="1000" b="1" kern="1100" spc="-130" dirty="0">
                          <a:effectLst/>
                        </a:rPr>
                        <a:t>NCS</a:t>
                      </a:r>
                      <a:r>
                        <a:rPr lang="ko-KR" altLang="en-US" sz="1000" b="1" kern="1100" spc="-130" dirty="0">
                          <a:effectLst/>
                        </a:rPr>
                        <a:t>기반 인성교육 </a:t>
                      </a:r>
                      <a:r>
                        <a:rPr lang="en-US" altLang="ko-KR" sz="1000" b="1" kern="1100" spc="-130" dirty="0">
                          <a:effectLst/>
                        </a:rPr>
                        <a:t>–</a:t>
                      </a:r>
                      <a:r>
                        <a:rPr lang="ko-KR" altLang="en-US" sz="1000" b="1" kern="1100" spc="-130" dirty="0">
                          <a:effectLst/>
                        </a:rPr>
                        <a:t>강의</a:t>
                      </a:r>
                      <a:endParaRPr lang="en-US" altLang="ko-KR" sz="1000" b="1" kern="1200" spc="-13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前</a:t>
                      </a:r>
                      <a:r>
                        <a:rPr lang="en-US" altLang="ko-KR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)</a:t>
                      </a:r>
                      <a:r>
                        <a:rPr lang="ko-KR" altLang="en-US" sz="1000" b="1" i="0" kern="1200" spc="-13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  <a:sym typeface="바른돋움 1"/>
                        </a:rPr>
                        <a:t> </a:t>
                      </a:r>
                      <a:r>
                        <a:rPr lang="ko-KR" altLang="en-US" sz="1000" b="1" spc="-130" dirty="0" err="1">
                          <a:latin typeface="+mn-ea"/>
                          <a:ea typeface="+mn-ea"/>
                        </a:rPr>
                        <a:t>앨앤아이컨설팅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㈜  </a:t>
                      </a:r>
                      <a:r>
                        <a:rPr lang="en-US" altLang="ko-KR" sz="1000" b="1" spc="-130" dirty="0">
                          <a:latin typeface="+mn-ea"/>
                          <a:ea typeface="+mn-ea"/>
                        </a:rPr>
                        <a:t>HR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컨설팅</a:t>
                      </a:r>
                      <a:r>
                        <a:rPr lang="en-US" altLang="ko-KR" sz="1000" b="1" spc="-13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spc="-130" dirty="0">
                          <a:latin typeface="+mn-ea"/>
                          <a:ea typeface="+mn-ea"/>
                        </a:rPr>
                        <a:t>전문위원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인사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채용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spc="-130" baseline="0" dirty="0">
                          <a:latin typeface="+mn-ea"/>
                          <a:ea typeface="+mn-ea"/>
                        </a:rPr>
                        <a:t>홍보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바른돋움 1"/>
                        </a:rPr>
                        <a:t>(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08. 05~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en-US" altLang="ko-KR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14. 12</a:t>
                      </a:r>
                      <a:r>
                        <a:rPr lang="ko-KR" altLang="en-US" sz="1000" b="0" i="0" u="none" strike="noStrike" kern="1200" spc="-100" noProof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㈜</a:t>
                      </a:r>
                      <a:r>
                        <a:rPr lang="ko-KR" altLang="en-US" sz="1000" b="1" i="0" spc="-130" baseline="0" dirty="0" err="1"/>
                        <a:t>유니콘기획</a:t>
                      </a:r>
                      <a:r>
                        <a:rPr lang="ko-KR" altLang="en-US" sz="1000" b="1" i="0" spc="-130" baseline="0" dirty="0"/>
                        <a:t>  인사팀</a:t>
                      </a:r>
                      <a:r>
                        <a:rPr lang="en-US" altLang="ko-KR" sz="1000" b="1" i="0" spc="-130" baseline="0" dirty="0"/>
                        <a:t>/</a:t>
                      </a:r>
                      <a:r>
                        <a:rPr lang="ko-KR" altLang="en-US" sz="1000" b="1" i="0" spc="-130" baseline="0" dirty="0"/>
                        <a:t>팀</a:t>
                      </a:r>
                      <a:r>
                        <a:rPr lang="ko-KR" altLang="en-US" sz="1000" b="1" spc="-130" baseline="0" dirty="0"/>
                        <a:t>장</a:t>
                      </a:r>
                      <a:r>
                        <a:rPr lang="en-US" altLang="ko-KR" sz="1000" b="1" spc="-130" baseline="0" dirty="0"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altLang="en-US" sz="1000" b="1" spc="-130" baseline="0" dirty="0"/>
                        <a:t>인사 채용</a:t>
                      </a:r>
                      <a:r>
                        <a:rPr lang="en-US" altLang="ko-KR" sz="1000" b="1" spc="-130" baseline="0" dirty="0"/>
                        <a:t>, </a:t>
                      </a:r>
                      <a:r>
                        <a:rPr lang="ko-KR" altLang="en-US" sz="1000" b="1" spc="-130" baseline="0" dirty="0"/>
                        <a:t>경영지원</a:t>
                      </a:r>
                      <a:r>
                        <a:rPr lang="en-US" altLang="ko-KR" sz="1000" b="1" spc="-130" baseline="0" dirty="0"/>
                        <a:t>, </a:t>
                      </a:r>
                      <a:r>
                        <a:rPr lang="ko-KR" altLang="en-US" sz="1000" b="1" spc="-130" baseline="0" dirty="0"/>
                        <a:t>사업기획</a:t>
                      </a:r>
                      <a:r>
                        <a:rPr lang="en-US" altLang="ko-KR" sz="1000" b="0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(2001. 01~2007. 12)</a:t>
                      </a:r>
                      <a:r>
                        <a:rPr lang="ko-KR" altLang="en-US" sz="1000" b="0" spc="-100" baseline="0" dirty="0"/>
                        <a:t> </a:t>
                      </a:r>
                      <a:endParaRPr kumimoji="0" lang="en-US" altLang="ko-KR" sz="1000" b="0" i="0" u="none" strike="noStrike" cap="none" spc="-10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前</a:t>
                      </a:r>
                      <a:r>
                        <a:rPr kumimoji="0" lang="en-US" altLang="ko-KR" sz="1000" b="1" i="0" u="none" strike="noStrike" cap="none" spc="-1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b="1" i="0" spc="-130" dirty="0"/>
                        <a:t>㈜</a:t>
                      </a:r>
                      <a:r>
                        <a:rPr lang="ko-KR" altLang="en-US" sz="1000" b="1" i="0" spc="-130" dirty="0" err="1"/>
                        <a:t>지학사</a:t>
                      </a:r>
                      <a:r>
                        <a:rPr lang="ko-KR" altLang="en-US" sz="1000" b="1" i="0" spc="-130" dirty="0"/>
                        <a:t>  편집</a:t>
                      </a:r>
                      <a:r>
                        <a:rPr lang="en-US" altLang="ko-KR" sz="1000" b="1" i="0" spc="-130" dirty="0"/>
                        <a:t>1</a:t>
                      </a:r>
                      <a:r>
                        <a:rPr lang="ko-KR" altLang="en-US" sz="1000" b="1" i="0" spc="-130" dirty="0"/>
                        <a:t>부</a:t>
                      </a:r>
                      <a:r>
                        <a:rPr lang="en-US" altLang="ko-KR" sz="1000" b="1" i="0" spc="-130" dirty="0"/>
                        <a:t>/</a:t>
                      </a:r>
                      <a:r>
                        <a:rPr lang="ko-KR" altLang="en-US" sz="1000" b="1" i="0" spc="-130" dirty="0"/>
                        <a:t>국정교과서 및 학습서 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교육과정</a:t>
                      </a:r>
                      <a:r>
                        <a:rPr lang="ko-KR" altLang="en-US" sz="1000" b="1" i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i="0" kern="1200" spc="-130" dirty="0">
                          <a:effectLst/>
                        </a:rPr>
                        <a:t>기획개발 </a:t>
                      </a:r>
                      <a:r>
                        <a:rPr lang="en-US" altLang="ko-KR" sz="1000" b="0" i="0" kern="1200" spc="-10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(1995. 03~2000. 12)</a:t>
                      </a:r>
                      <a:r>
                        <a:rPr lang="en-US" altLang="ko-KR" sz="1000" b="0" i="0" kern="1200" spc="-10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ko-KR" altLang="en-US" dirty="0"/>
                    </a:p>
                  </a:txBody>
                  <a:tcPr marL="90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0409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채용심사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위원 활동</a:t>
                      </a:r>
                      <a:endParaRPr lang="en-US" altLang="ko-KR" sz="1100" b="1" kern="1200" spc="-8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면접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서류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채용점검위원회</a:t>
                      </a:r>
                      <a:r>
                        <a:rPr lang="en-US" altLang="ko-KR" sz="11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서류전형</a:t>
                      </a:r>
                      <a:r>
                        <a:rPr lang="en-US" altLang="ko-KR" sz="1000" b="1" kern="1200" spc="-130" dirty="0">
                          <a:effectLst/>
                        </a:rPr>
                        <a:t>-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[ </a:t>
                      </a: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금융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</a:t>
                      </a:r>
                      <a:r>
                        <a:rPr lang="ko-KR" altLang="en-US" sz="1000" b="1" kern="1200" spc="-80" dirty="0">
                          <a:effectLst/>
                        </a:rPr>
                        <a:t>한국은행</a:t>
                      </a:r>
                      <a:r>
                        <a:rPr lang="en-US" altLang="ko-KR" sz="1000" b="1" kern="1200" spc="-8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금융감독원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금융결제원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1" kern="1200" spc="-80" dirty="0">
                          <a:effectLst/>
                        </a:rPr>
                        <a:t>KDB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산업은행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dirty="0">
                          <a:effectLst/>
                        </a:rPr>
                        <a:t>한국주택금융공사</a:t>
                      </a:r>
                      <a:r>
                        <a:rPr lang="en-US" altLang="ko-KR" sz="1000" b="1" kern="1200" spc="-80" dirty="0">
                          <a:effectLst/>
                        </a:rPr>
                        <a:t>, KB</a:t>
                      </a:r>
                      <a:r>
                        <a:rPr lang="ko-KR" altLang="en-US" sz="1000" b="1" kern="1200" spc="-80" dirty="0">
                          <a:effectLst/>
                        </a:rPr>
                        <a:t>국민은행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한국수출입은행</a:t>
                      </a:r>
                      <a:r>
                        <a:rPr lang="en-US" altLang="ko-KR" sz="1000" b="1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8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한국예탁결제원</a:t>
                      </a:r>
                      <a:r>
                        <a:rPr lang="en-US" altLang="ko-KR" sz="1000" b="1" kern="1200" spc="-80" dirty="0">
                          <a:effectLst/>
                        </a:rPr>
                        <a:t>, IBK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기업은행</a:t>
                      </a:r>
                      <a:r>
                        <a:rPr lang="en-US" altLang="ko-KR" sz="1000" b="1" kern="1200" spc="-80" dirty="0">
                          <a:effectLst/>
                        </a:rPr>
                        <a:t>,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 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1" kern="1200" spc="-80" baseline="0" dirty="0">
                          <a:effectLst/>
                        </a:rPr>
                        <a:t>주택도시보증공사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기술보증기금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dirty="0">
                          <a:effectLst/>
                        </a:rPr>
                        <a:t>서민금융진흥원</a:t>
                      </a:r>
                      <a:r>
                        <a:rPr lang="en-US" altLang="ko-KR" sz="1000" b="1" kern="1200" spc="-8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 err="1">
                          <a:effectLst/>
                        </a:rPr>
                        <a:t>코스콤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한국무역보험공사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국민카드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80" baseline="0" dirty="0" err="1">
                          <a:effectLst/>
                        </a:rPr>
                        <a:t>우리카드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한국장학재단</a:t>
                      </a:r>
                      <a:r>
                        <a:rPr lang="ko-KR" altLang="en-US" sz="1000" b="1" kern="1200" spc="-8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80" baseline="0" dirty="0">
                          <a:effectLst/>
                        </a:rPr>
                        <a:t>]  </a:t>
                      </a:r>
                      <a:r>
                        <a:rPr lang="ko-KR" altLang="en-US" sz="1000" b="0" kern="1200" spc="-80" baseline="0" dirty="0">
                          <a:effectLst/>
                        </a:rPr>
                        <a:t>에너지경제원 논술</a:t>
                      </a:r>
                      <a:r>
                        <a:rPr lang="en-US" altLang="ko-KR" sz="1000" b="0" kern="1200" spc="-8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경기환경에너지진흥원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30" dirty="0">
                          <a:effectLst/>
                        </a:rPr>
                        <a:t>유네스코 논술</a:t>
                      </a:r>
                      <a:r>
                        <a:rPr lang="en-US" altLang="ko-KR" sz="1000" kern="1200" spc="-130" dirty="0">
                          <a:effectLst/>
                        </a:rPr>
                        <a:t>, KOTRA, KOICA,, </a:t>
                      </a:r>
                      <a:r>
                        <a:rPr lang="ko-KR" altLang="en-US" sz="1000" kern="1200" spc="-130" dirty="0">
                          <a:effectLst/>
                        </a:rPr>
                        <a:t>한전</a:t>
                      </a:r>
                      <a:r>
                        <a:rPr lang="en-US" altLang="ko-KR" sz="1000" kern="1200" spc="-130" dirty="0">
                          <a:effectLst/>
                        </a:rPr>
                        <a:t>KPS,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KDN, </a:t>
                      </a:r>
                      <a:r>
                        <a:rPr lang="ko-KR" altLang="en-US" sz="1000" kern="1200" spc="-130" dirty="0">
                          <a:effectLst/>
                        </a:rPr>
                        <a:t>국민연금공단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건강보험심사평가원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한국산업기술평가관리원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서울시교육청</a:t>
                      </a:r>
                      <a:r>
                        <a:rPr lang="en-US" altLang="ko-KR" sz="1000" b="0" kern="1200" spc="-130" dirty="0">
                          <a:effectLst/>
                        </a:rPr>
                        <a:t>(</a:t>
                      </a:r>
                      <a:r>
                        <a:rPr lang="ko-KR" altLang="en-US" sz="1000" b="0" kern="1200" spc="-130" dirty="0">
                          <a:effectLst/>
                        </a:rPr>
                        <a:t>승진심사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),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 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30" dirty="0" err="1">
                          <a:effectLst/>
                        </a:rPr>
                        <a:t>한국우편사업진흥원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국민</a:t>
                      </a:r>
                      <a:r>
                        <a:rPr lang="ko-KR" altLang="en-US" sz="1000" strike="noStrike" kern="1200" spc="-130" dirty="0">
                          <a:effectLst/>
                        </a:rPr>
                        <a:t>건강보험</a:t>
                      </a:r>
                      <a:r>
                        <a:rPr lang="ko-KR" altLang="en-US" sz="1000" kern="1200" spc="-130" dirty="0">
                          <a:effectLst/>
                        </a:rPr>
                        <a:t>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다산콜센터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한국수자원공사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언론중재위원회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GS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파워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한국중부발전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한국지능정보사회진흥원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한국사회적기업진흥원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한국산업기술진흥원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한국가스안전공사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코이카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해외자문단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한전원자력연료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대한소방공제회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수도권매립지관리공사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서울시</a:t>
                      </a:r>
                      <a:r>
                        <a:rPr lang="en-US" altLang="ko-KR" sz="1000" kern="1200" spc="-130" dirty="0">
                          <a:effectLst/>
                        </a:rPr>
                        <a:t>50</a:t>
                      </a:r>
                      <a:r>
                        <a:rPr lang="ko-KR" altLang="en-US" sz="1000" kern="1200" spc="-130" dirty="0">
                          <a:effectLst/>
                        </a:rPr>
                        <a:t>플러스재단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30" dirty="0" err="1">
                          <a:effectLst/>
                        </a:rPr>
                        <a:t>서울물재생시설공단</a:t>
                      </a:r>
                      <a:r>
                        <a:rPr lang="en-US" altLang="ko-KR" sz="1000" kern="1200" spc="-130" dirty="0">
                          <a:effectLst/>
                        </a:rPr>
                        <a:t>,  </a:t>
                      </a:r>
                      <a:r>
                        <a:rPr lang="ko-KR" altLang="en-US" sz="1000" b="0" kern="1200" spc="-130" dirty="0" err="1">
                          <a:solidFill>
                            <a:schemeClr val="tx1"/>
                          </a:solidFill>
                          <a:effectLst/>
                        </a:rPr>
                        <a:t>코레일테크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한국해양진흥공사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서울산업진흥원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한국공항공사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세종학당재단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50" dirty="0">
                          <a:effectLst/>
                        </a:rPr>
                        <a:t>경기도일자리재단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en-US" altLang="ko-KR" sz="1000" kern="1200" spc="-150" baseline="0" dirty="0">
                          <a:effectLst/>
                        </a:rPr>
                        <a:t> </a:t>
                      </a:r>
                      <a:r>
                        <a:rPr lang="ko-KR" altLang="en-US" sz="1000" kern="1200" spc="-150" dirty="0">
                          <a:effectLst/>
                        </a:rPr>
                        <a:t>서울시설관리공단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한국철도시설공단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위젯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endParaRPr lang="en-US" altLang="ko-KR" sz="1000" b="0" kern="1200" spc="-15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spc="-15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수목원정원관리원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50" dirty="0">
                          <a:effectLst/>
                        </a:rPr>
                        <a:t>국립공원공단</a:t>
                      </a:r>
                      <a:r>
                        <a:rPr lang="en-US" altLang="ko-KR" sz="1000" kern="1200" spc="-150" dirty="0">
                          <a:effectLst/>
                        </a:rPr>
                        <a:t>,</a:t>
                      </a:r>
                      <a:r>
                        <a:rPr lang="ko-KR" altLang="en-US" sz="1000" kern="1200" spc="-150" dirty="0">
                          <a:effectLst/>
                        </a:rPr>
                        <a:t> </a:t>
                      </a:r>
                      <a:r>
                        <a:rPr lang="ko-KR" altLang="en-US" sz="1000" kern="1200" spc="-150" dirty="0" err="1">
                          <a:effectLst/>
                        </a:rPr>
                        <a:t>장애인기업종합지원센터</a:t>
                      </a:r>
                      <a:r>
                        <a:rPr lang="en-US" altLang="ko-KR" sz="1000" kern="1200" spc="-150" dirty="0">
                          <a:effectLst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한국도자재단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서울디자인재단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한국토지주택공사,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한국지역난방공사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행정안전부</a:t>
                      </a:r>
                      <a:r>
                        <a:rPr lang="en-US" altLang="ko-KR" sz="1000" kern="1200" spc="-130" dirty="0">
                          <a:effectLst/>
                        </a:rPr>
                        <a:t>,  </a:t>
                      </a:r>
                      <a:r>
                        <a:rPr lang="ko-KR" altLang="en-US" sz="1000" kern="1200" spc="-130" dirty="0" err="1">
                          <a:effectLst/>
                        </a:rPr>
                        <a:t>대한건설기계안전관리원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30" dirty="0">
                          <a:effectLst/>
                        </a:rPr>
                        <a:t>성남시청소년재단 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항공박물관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장애인고용공단 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外 다수 </a:t>
                      </a:r>
                      <a:endParaRPr lang="en-US" altLang="ko-KR" sz="1000" kern="1200" spc="-130" baseline="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면접전형</a:t>
                      </a:r>
                      <a:r>
                        <a:rPr lang="ko-KR" altLang="en-US" sz="1000" b="1" kern="1200" spc="-13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[ </a:t>
                      </a:r>
                      <a:r>
                        <a:rPr lang="ko-KR" altLang="en-US" sz="1000" b="1" kern="1200" spc="-130" dirty="0">
                          <a:solidFill>
                            <a:srgbClr val="0070C0"/>
                          </a:solidFill>
                          <a:effectLst/>
                        </a:rPr>
                        <a:t>금융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30" dirty="0">
                          <a:effectLst/>
                        </a:rPr>
                        <a:t>-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한국은행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금융감독원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en-US" altLang="ko-KR" sz="1000" b="1" kern="1200" spc="-120" dirty="0">
                          <a:effectLst/>
                        </a:rPr>
                        <a:t>KDB</a:t>
                      </a:r>
                      <a:r>
                        <a:rPr lang="ko-KR" altLang="en-US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산업은행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한국수출입은행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한국무역보험공사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 </a:t>
                      </a:r>
                      <a:r>
                        <a:rPr lang="ko-KR" altLang="en-US" sz="1000" b="1" kern="1200" spc="-12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한국예탁결제원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한국주택금융공사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신용보증기금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한국자산관리공사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 err="1">
                          <a:effectLst/>
                        </a:rPr>
                        <a:t>코스콤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KB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국민은행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000" b="1" kern="1200" spc="-120" dirty="0">
                          <a:effectLst/>
                        </a:rPr>
                        <a:t>IBK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기업은행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20" dirty="0">
                          <a:effectLst/>
                        </a:rPr>
                        <a:t>수협중앙회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 </a:t>
                      </a:r>
                      <a:r>
                        <a:rPr lang="en-US" altLang="ko-KR" sz="1000" b="1" kern="1200" spc="-12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IBK</a:t>
                      </a:r>
                      <a:r>
                        <a:rPr lang="ko-KR" altLang="en-US" sz="1000" b="1" kern="1200" spc="-120" dirty="0">
                          <a:effectLst/>
                        </a:rPr>
                        <a:t>시스템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한국벤처투자</a:t>
                      </a:r>
                      <a:r>
                        <a:rPr lang="en-US" altLang="ko-KR" sz="1000" b="1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주택도시보증공사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기술보증기금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전북신용보증재단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서민금융진흥원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en-US" altLang="ko-KR" sz="1000" b="1" kern="1200" spc="-120" dirty="0">
                          <a:effectLst/>
                        </a:rPr>
                        <a:t>NH</a:t>
                      </a:r>
                      <a:r>
                        <a:rPr lang="ko-KR" altLang="en-US" sz="1000" b="1" kern="1200" spc="-120" dirty="0">
                          <a:effectLst/>
                        </a:rPr>
                        <a:t>투자증권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120" dirty="0">
                          <a:effectLst/>
                        </a:rPr>
                        <a:t>한국투자공사</a:t>
                      </a:r>
                      <a:r>
                        <a:rPr lang="en-US" altLang="ko-KR" sz="1000" b="1" kern="1200" spc="-12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dirty="0">
                          <a:effectLst/>
                        </a:rPr>
                        <a:t>신용보증재단중앙회</a:t>
                      </a:r>
                      <a:r>
                        <a:rPr lang="en-US" altLang="ko-KR" sz="1000" b="1" kern="1200" spc="-120" dirty="0">
                          <a:effectLst/>
                        </a:rPr>
                        <a:t>,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20" baseline="0" dirty="0" err="1">
                          <a:effectLst/>
                        </a:rPr>
                        <a:t>우리금융캐피탈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20" baseline="0" dirty="0">
                          <a:effectLst/>
                        </a:rPr>
                        <a:t>한국장학재단 </a:t>
                      </a:r>
                      <a:r>
                        <a:rPr lang="en-US" altLang="ko-KR" sz="1000" b="1" kern="1200" spc="-120" baseline="0" dirty="0">
                          <a:effectLst/>
                        </a:rPr>
                        <a:t>]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한국에너지재단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dirty="0" err="1">
                          <a:effectLst/>
                        </a:rPr>
                        <a:t>한국에너지기술평가원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외교부</a:t>
                      </a:r>
                      <a:r>
                        <a:rPr lang="en-US" altLang="ko-KR" sz="1000" kern="1200" spc="-130" dirty="0">
                          <a:effectLst/>
                        </a:rPr>
                        <a:t>, KOTRA,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en-US" altLang="ko-KR" sz="1000" kern="1200" spc="-130" dirty="0">
                          <a:effectLst/>
                        </a:rPr>
                        <a:t>KOICA,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한국지역난방공사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한국거래소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한국산업기술진흥원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20" dirty="0">
                          <a:effectLst/>
                        </a:rPr>
                        <a:t>한국재정정보원</a:t>
                      </a:r>
                      <a:r>
                        <a:rPr lang="en-US" altLang="ko-KR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2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서울교통공사 신입 및 승진평가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en-US" altLang="ko-KR" sz="1000" kern="1200" spc="-130" dirty="0">
                          <a:effectLst/>
                        </a:rPr>
                        <a:t>TS</a:t>
                      </a:r>
                      <a:r>
                        <a:rPr lang="ko-KR" altLang="en-US" sz="1000" kern="1200" spc="-130" dirty="0">
                          <a:effectLst/>
                        </a:rPr>
                        <a:t>교통안전공단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국가철도공단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한국해양교통안전공단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한국관광공사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국립해양생물자원관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KDN, </a:t>
                      </a:r>
                      <a:r>
                        <a:rPr lang="ko-KR" altLang="en-US" sz="1000" kern="1200" spc="-130" dirty="0">
                          <a:effectLst/>
                        </a:rPr>
                        <a:t>한전</a:t>
                      </a:r>
                      <a:r>
                        <a:rPr lang="en-US" altLang="ko-KR" sz="1000" kern="1200" spc="-130" dirty="0">
                          <a:effectLst/>
                        </a:rPr>
                        <a:t>KPS, </a:t>
                      </a:r>
                      <a:r>
                        <a:rPr lang="ko-KR" altLang="en-US" sz="1000" b="0" kern="1200" spc="-130" dirty="0">
                          <a:effectLst/>
                        </a:rPr>
                        <a:t>건강보험심사평가원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한국농어촌공사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40" baseline="0" dirty="0">
                          <a:effectLst/>
                        </a:rPr>
                        <a:t>한국환경공단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40" dirty="0">
                          <a:effectLst/>
                        </a:rPr>
                        <a:t>한국산업단지공단</a:t>
                      </a:r>
                      <a:r>
                        <a:rPr lang="en-US" altLang="ko-KR" sz="1000" kern="1200" spc="-140" dirty="0">
                          <a:effectLst/>
                        </a:rPr>
                        <a:t>, </a:t>
                      </a:r>
                      <a:r>
                        <a:rPr lang="ko-KR" altLang="en-US" sz="1000" kern="1200" spc="-140" dirty="0" err="1">
                          <a:effectLst/>
                        </a:rPr>
                        <a:t>국토교통과학기술진흥원</a:t>
                      </a:r>
                      <a:r>
                        <a:rPr lang="en-US" altLang="ko-KR" sz="1000" kern="1200" spc="-140" dirty="0">
                          <a:effectLst/>
                        </a:rPr>
                        <a:t>,</a:t>
                      </a:r>
                      <a:r>
                        <a:rPr lang="en-US" altLang="ko-KR" sz="1000" b="0" kern="1200" spc="-140" baseline="0" dirty="0">
                          <a:effectLst/>
                        </a:rPr>
                        <a:t>  </a:t>
                      </a:r>
                      <a:r>
                        <a:rPr lang="ko-KR" altLang="en-US" sz="1000" b="0" kern="1200" spc="-140" dirty="0">
                          <a:effectLst/>
                        </a:rPr>
                        <a:t>한국가스공사</a:t>
                      </a:r>
                      <a:r>
                        <a:rPr lang="en-US" altLang="ko-KR" sz="1000" kern="1200" spc="-140" dirty="0">
                          <a:effectLst/>
                        </a:rPr>
                        <a:t>, 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부산항만공사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인천항만공사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spc="-140" baseline="0" dirty="0">
                          <a:effectLst/>
                        </a:rPr>
                        <a:t>강원대병원</a:t>
                      </a:r>
                      <a:r>
                        <a:rPr lang="en-US" altLang="ko-KR" sz="1000" kern="1200" spc="-140" baseline="0" dirty="0">
                          <a:effectLst/>
                        </a:rPr>
                        <a:t>,  </a:t>
                      </a:r>
                      <a:r>
                        <a:rPr lang="en-US" altLang="ko-KR" sz="1000" kern="1200" spc="0" baseline="0" dirty="0">
                          <a:effectLst/>
                        </a:rPr>
                        <a:t>LH,</a:t>
                      </a:r>
                      <a:r>
                        <a:rPr lang="ko-KR" altLang="en-US" sz="1000" kern="1200" spc="0" baseline="0" dirty="0">
                          <a:effectLst/>
                        </a:rPr>
                        <a:t> </a:t>
                      </a:r>
                      <a:r>
                        <a:rPr lang="en-US" altLang="ko-KR" sz="1000" kern="1200" spc="0" baseline="0" dirty="0">
                          <a:effectLst/>
                        </a:rPr>
                        <a:t>SH,</a:t>
                      </a:r>
                      <a:r>
                        <a:rPr lang="ko-KR" altLang="en-US" sz="1000" b="0" kern="1200" spc="-14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여수광양항만공사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effectLst/>
                        </a:rPr>
                        <a:t>한국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수력원자력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40" baseline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한국조폐공사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분당서울대병원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서울의료원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소상공인시장진흥원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대구환경공단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한국환경산업기술원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세종학당재단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전남복지재단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한국수자원공사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 </a:t>
                      </a:r>
                      <a:r>
                        <a:rPr lang="ko-KR" altLang="en-US" sz="1000" b="0" kern="1200" spc="-130" dirty="0">
                          <a:effectLst/>
                        </a:rPr>
                        <a:t>한국가스기술공사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한국남부발전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한국동서발전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한국중부발전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한국서부발전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제주개발공사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effectLst/>
                        </a:rPr>
                        <a:t>국립세종수목원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dirty="0">
                          <a:effectLst/>
                        </a:rPr>
                        <a:t>한국전력기술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근로복지공단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농업기술실용화재단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산림조합중앙회</a:t>
                      </a:r>
                      <a:r>
                        <a:rPr lang="en-US" altLang="ko-KR" sz="100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한국연구재단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dirty="0">
                          <a:effectLst/>
                        </a:rPr>
                        <a:t>춘천도시공사</a:t>
                      </a:r>
                      <a:r>
                        <a:rPr lang="en-US" altLang="ko-KR" sz="1000" kern="1200" spc="-130" dirty="0">
                          <a:effectLst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dirty="0">
                          <a:effectLst/>
                        </a:rPr>
                        <a:t>국민건강보험공단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한국지능정보사회진흥원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한전원자력연료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예술의전당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</a:t>
                      </a:r>
                      <a:endParaRPr lang="en-US" altLang="ko-KR" sz="1000" b="0" kern="1200" spc="-13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한국보건의료연구원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하남도시공사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서울시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50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플러스재단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국토안전관리원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임업진흥원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30" dirty="0">
                          <a:effectLst/>
                        </a:rPr>
                        <a:t>서울문화재단</a:t>
                      </a:r>
                      <a:r>
                        <a:rPr lang="en-US" altLang="ko-KR" sz="1000" b="0" kern="1200" spc="-130" dirty="0">
                          <a:effectLst/>
                        </a:rPr>
                        <a:t>, </a:t>
                      </a:r>
                      <a:r>
                        <a:rPr lang="ko-KR" altLang="en-US" sz="1000" b="0" kern="1200" spc="-130" baseline="0" dirty="0">
                          <a:effectLst/>
                        </a:rPr>
                        <a:t>한국문화재재단</a:t>
                      </a:r>
                      <a:r>
                        <a:rPr lang="en-US" altLang="ko-KR" sz="1000" b="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소프트웨어정책연구소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JDC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제주국제자유도시개발센터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 err="1">
                          <a:effectLst/>
                        </a:rPr>
                        <a:t>농림수산식품교육문화정보원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인천국제공항공사</a:t>
                      </a:r>
                      <a:r>
                        <a:rPr lang="en-US" altLang="ko-KR" sz="1000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국방과학연구소</a:t>
                      </a:r>
                      <a:r>
                        <a:rPr lang="en-US" altLang="ko-KR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국방기술품질원</a:t>
                      </a:r>
                      <a:r>
                        <a:rPr lang="en-US" altLang="ko-KR" sz="1000" b="0" kern="1200" spc="-13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국방기술진흥연구소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대한장애인체육회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2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중소벤처기업진흥공단</a:t>
                      </a:r>
                      <a:r>
                        <a:rPr lang="en-US" altLang="ko-KR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12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경기평택항만공사</a:t>
                      </a:r>
                      <a:r>
                        <a:rPr lang="en-US" altLang="ko-KR" sz="1000" b="0" kern="1200" spc="-12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정선아리랑재단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전통건축수리기술진흥재단</a:t>
                      </a:r>
                      <a:r>
                        <a:rPr lang="en-US" altLang="ko-KR" sz="1000" b="0" kern="1200" spc="-1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해양환경공단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한국원자력환경공단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한국어촌어항공단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항공우주연구원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광주도시관리공사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한국과학기술기획평가원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원광대병원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한국인터넷진흥원</a:t>
                      </a:r>
                      <a:r>
                        <a:rPr lang="en-US" altLang="ko-KR" sz="1000" b="0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경기도의회</a:t>
                      </a:r>
                      <a:r>
                        <a:rPr lang="en-US" altLang="ko-KR" sz="1000" b="1" kern="1200" spc="-13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광양시의회</a:t>
                      </a:r>
                      <a:r>
                        <a:rPr lang="en-US" altLang="ko-KR" sz="1000" b="1" kern="1200" spc="-13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성남시의회</a:t>
                      </a:r>
                      <a:r>
                        <a:rPr lang="en-US" altLang="ko-KR" sz="1000" b="1" kern="1200" spc="-13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수원시의회</a:t>
                      </a:r>
                      <a:r>
                        <a:rPr lang="en-US" altLang="ko-KR" sz="1000" b="1" kern="1200" spc="-13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안산시의회</a:t>
                      </a:r>
                      <a:r>
                        <a:rPr lang="en-US" altLang="ko-KR" sz="1000" b="1" kern="1200" spc="-13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dirty="0">
                          <a:effectLst/>
                        </a:rPr>
                        <a:t>서울시청</a:t>
                      </a:r>
                      <a:r>
                        <a:rPr lang="en-US" altLang="ko-KR" sz="1000" b="1" kern="1200" spc="-130" dirty="0">
                          <a:effectLst/>
                        </a:rPr>
                        <a:t>,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 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화성시청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안산시청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안성시청</a:t>
                      </a:r>
                      <a:r>
                        <a:rPr lang="en-US" altLang="ko-KR" sz="1000" b="1" kern="1200" spc="-130" baseline="0" dirty="0">
                          <a:effectLst/>
                        </a:rPr>
                        <a:t>, </a:t>
                      </a:r>
                      <a:r>
                        <a:rPr lang="ko-KR" altLang="en-US" sz="1000" b="1" kern="1200" spc="-130" baseline="0" dirty="0">
                          <a:effectLst/>
                        </a:rPr>
                        <a:t>여주시청</a:t>
                      </a:r>
                      <a:r>
                        <a:rPr lang="en-US" altLang="ko-KR" sz="1000" b="1" kern="1200" spc="-14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30" baseline="0" dirty="0">
                          <a:effectLst/>
                        </a:rPr>
                        <a:t>外 다수</a:t>
                      </a:r>
                      <a:endParaRPr lang="en-US" altLang="ko-KR" sz="1000" kern="1200" spc="-130" baseline="0" dirty="0">
                        <a:effectLst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33">
                <a:tc>
                  <a:txBody>
                    <a:bodyPr/>
                    <a:lstStyle/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자격 및 </a:t>
                      </a:r>
                      <a:endParaRPr lang="en-US" altLang="ko-KR" sz="1100" b="1" spc="-80" baseline="0" dirty="0"/>
                    </a:p>
                    <a:p>
                      <a:pPr algn="ctr" latinLnBrk="1">
                        <a:lnSpc>
                          <a:spcPts val="1500"/>
                        </a:lnSpc>
                      </a:pPr>
                      <a:r>
                        <a:rPr lang="ko-KR" altLang="en-US" sz="1100" b="1" spc="-80" baseline="0" dirty="0"/>
                        <a:t>이수</a:t>
                      </a:r>
                      <a:endParaRPr lang="en-US" altLang="ko-KR" sz="1100" b="1" spc="-80" baseline="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한국상담심리학회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(2023), (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한국심리학회 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정회원</a:t>
                      </a:r>
                      <a:r>
                        <a:rPr lang="en-US" altLang="ko-KR" sz="1000" kern="1200" spc="-7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(2023)</a:t>
                      </a: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채용역량면접전문가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인바스켓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, 2</a:t>
                      </a:r>
                      <a:r>
                        <a:rPr lang="ko-KR" altLang="en-US" sz="1000" strike="noStrike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사람인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HR 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주관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(1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-2023, 2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-2020) </a:t>
                      </a:r>
                      <a:endParaRPr lang="en-US" altLang="ko-KR" sz="1000" kern="1200" spc="-5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KAC </a:t>
                      </a:r>
                      <a:r>
                        <a:rPr lang="ko-KR" altLang="en-US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코치자격과정 수료</a:t>
                      </a: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_KAC </a:t>
                      </a:r>
                      <a:r>
                        <a:rPr lang="ko-KR" altLang="en-US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한국코치협회 </a:t>
                      </a:r>
                      <a:r>
                        <a:rPr lang="en-US" altLang="ko-KR" sz="1000" kern="1200" spc="-5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(2023)</a:t>
                      </a:r>
                    </a:p>
                  </a:txBody>
                  <a:tcPr marT="36000" marB="36000" anchor="ctr"/>
                </a:tc>
                <a:tc hMerge="1"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ko-KR" sz="1000" kern="1200" spc="-50" baseline="0" dirty="0">
                        <a:solidFill>
                          <a:schemeClr val="dk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T="36000" marB="36000" anchor="ctr"/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채용역량면접 전문가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 자격과정 개발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한국전문면접평가인증원 </a:t>
                      </a:r>
                      <a:r>
                        <a:rPr lang="en-US" altLang="ko-KR" sz="1000" kern="1200" spc="-10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kern="1200" spc="-80" baseline="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2023)</a:t>
                      </a:r>
                    </a:p>
                    <a:p>
                      <a:pPr marL="88900" marR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 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역량평가 양성과정</a:t>
                      </a: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이음컨설팅</a:t>
                      </a:r>
                      <a:r>
                        <a:rPr lang="en-US" altLang="ko-KR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7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한국인재평가연구소 주관 </a:t>
                      </a:r>
                      <a:r>
                        <a:rPr kumimoji="0" lang="en-US" altLang="ko-KR" sz="1000" b="0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(2020)</a:t>
                      </a: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50" dirty="0" err="1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에니어그램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 교육과정 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급 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_</a:t>
                      </a:r>
                      <a:r>
                        <a:rPr lang="ko-KR" altLang="en-US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한국소통문화교육원 주관 </a:t>
                      </a:r>
                      <a:r>
                        <a:rPr lang="en-US" altLang="ko-KR" sz="1000" kern="1200" spc="-50" dirty="0">
                          <a:solidFill>
                            <a:schemeClr val="dk1"/>
                          </a:solidFill>
                          <a:latin typeface="+mj-ea"/>
                          <a:ea typeface="+mn-ea"/>
                          <a:cs typeface="+mn-cs"/>
                        </a:rPr>
                        <a:t>(2020)</a:t>
                      </a:r>
                    </a:p>
                  </a:txBody>
                  <a:tcPr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7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spc="-80" baseline="0" dirty="0"/>
                        <a:t>저서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spc="-70" baseline="0" dirty="0"/>
                        <a:t>[</a:t>
                      </a:r>
                      <a:r>
                        <a:rPr lang="ko-KR" altLang="en-US" sz="1000" b="1" spc="-70" baseline="0" dirty="0"/>
                        <a:t>저서</a:t>
                      </a:r>
                      <a:r>
                        <a:rPr lang="en-US" altLang="ko-KR" sz="1000" b="1" spc="-70" baseline="0" dirty="0"/>
                        <a:t>] </a:t>
                      </a:r>
                      <a:r>
                        <a:rPr lang="en-US" altLang="ko-KR" sz="1000" b="0" spc="-70" baseline="0" dirty="0"/>
                        <a:t>100</a:t>
                      </a:r>
                      <a:r>
                        <a:rPr lang="ko-KR" altLang="en-US" sz="1000" b="0" spc="-70" baseline="0" dirty="0"/>
                        <a:t>세 시대 행복한 길 찾기</a:t>
                      </a:r>
                      <a:r>
                        <a:rPr lang="en-US" altLang="ko-KR" sz="1000" b="0" i="0" spc="-70" baseline="0" dirty="0"/>
                        <a:t>- </a:t>
                      </a:r>
                      <a:r>
                        <a:rPr lang="ko-KR" altLang="en-US" sz="1000" b="0" i="0" spc="-70" baseline="0" dirty="0" err="1"/>
                        <a:t>신중년</a:t>
                      </a:r>
                      <a:r>
                        <a:rPr lang="ko-KR" altLang="en-US" sz="1000" b="0" i="0" spc="-70" baseline="0" dirty="0"/>
                        <a:t> 꿈을 품다</a:t>
                      </a:r>
                      <a:r>
                        <a:rPr lang="en-US" altLang="ko-KR" sz="1000" b="0" i="0" spc="-70" baseline="0" dirty="0"/>
                        <a:t>(2019) </a:t>
                      </a:r>
                      <a:r>
                        <a:rPr lang="ko-KR" altLang="en-US" sz="1000" b="0" i="0" spc="-70" baseline="0" dirty="0"/>
                        <a:t>공저</a:t>
                      </a:r>
                      <a:r>
                        <a:rPr lang="en-US" altLang="ko-KR" sz="1000" b="0" i="0" spc="-70" baseline="0" dirty="0"/>
                        <a:t>,    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신중년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꿈을 이루다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(2025)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공저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008" y="-49232"/>
            <a:ext cx="2736304" cy="33265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b="1" dirty="0">
                <a:solidFill>
                  <a:srgbClr val="0070C0"/>
                </a:solidFill>
              </a:rPr>
              <a:t> </a:t>
            </a:r>
            <a:r>
              <a:rPr lang="ko-KR" altLang="en-US" sz="1800" b="1" dirty="0">
                <a:solidFill>
                  <a:srgbClr val="0070C0"/>
                </a:solidFill>
              </a:rPr>
              <a:t>김민옥 면접관 </a:t>
            </a:r>
            <a:r>
              <a:rPr lang="en-US" altLang="ko-KR" sz="2000" b="1" dirty="0">
                <a:solidFill>
                  <a:srgbClr val="0070C0"/>
                </a:solidFill>
              </a:rPr>
              <a:t>Profile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78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14007</TotalTime>
  <Words>763</Words>
  <Application>Microsoft Office PowerPoint</Application>
  <PresentationFormat>화면 슬라이드 쇼(4:3)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 김민옥 면접관 Profile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553</cp:revision>
  <cp:lastPrinted>2014-08-27T01:34:07Z</cp:lastPrinted>
  <dcterms:created xsi:type="dcterms:W3CDTF">2014-08-26T23:33:08Z</dcterms:created>
  <dcterms:modified xsi:type="dcterms:W3CDTF">2025-11-23T12:03:42Z</dcterms:modified>
</cp:coreProperties>
</file>